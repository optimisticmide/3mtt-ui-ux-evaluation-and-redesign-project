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Kanit"/>
      <p:regular r:id="rId18"/>
    </p:embeddedFont>
    <p:embeddedFont>
      <p:font typeface="Kanit"/>
      <p:regular r:id="rId19"/>
    </p:embeddedFont>
    <p:embeddedFont>
      <p:font typeface="Kanit"/>
      <p:regular r:id="rId20"/>
    </p:embeddedFont>
    <p:embeddedFont>
      <p:font typeface="Kanit"/>
      <p:regular r:id="rId21"/>
    </p:embeddedFont>
    <p:embeddedFont>
      <p:font typeface="Martel Sans Light"/>
      <p:regular r:id="rId22"/>
    </p:embeddedFont>
    <p:embeddedFont>
      <p:font typeface="Martel Sans Light"/>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1929646"/>
            <a:ext cx="7468553" cy="1408033"/>
          </a:xfrm>
          <a:prstGeom prst="rect">
            <a:avLst/>
          </a:prstGeom>
          <a:noFill/>
          <a:ln/>
        </p:spPr>
        <p:txBody>
          <a:bodyPr wrap="square" lIns="0" tIns="0" rIns="0" bIns="0" rtlCol="0" anchor="t"/>
          <a:lstStyle/>
          <a:p>
            <a:pPr indent="0" marL="0">
              <a:lnSpc>
                <a:spcPts val="5500"/>
              </a:lnSpc>
              <a:buNone/>
            </a:pPr>
            <a:r>
              <a:rPr lang="en-US" sz="4400" dirty="0">
                <a:solidFill>
                  <a:srgbClr val="FFFFFF"/>
                </a:solidFill>
                <a:latin typeface="Kanit" pitchFamily="34" charset="0"/>
                <a:ea typeface="Kanit" pitchFamily="34" charset="-122"/>
                <a:cs typeface="Kanit" pitchFamily="34" charset="-120"/>
              </a:rPr>
              <a:t>Spotify UI/UX Evaluation and Redesign Proposal</a:t>
            </a:r>
            <a:endParaRPr lang="en-US" sz="4400" dirty="0"/>
          </a:p>
        </p:txBody>
      </p:sp>
      <p:sp>
        <p:nvSpPr>
          <p:cNvPr id="4" name="Text 1"/>
          <p:cNvSpPr/>
          <p:nvPr/>
        </p:nvSpPr>
        <p:spPr>
          <a:xfrm>
            <a:off x="6324124" y="3696653"/>
            <a:ext cx="7468553" cy="1915120"/>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This presentation evaluates Spotify's user interface (UI) and user experience (UX), identifying key strengths and weaknesses. We will explore the app's visual design, usability, navigation, and performance, highlighting areas for improvement to enhance user engagement and satisfaction.</a:t>
            </a:r>
            <a:endParaRPr lang="en-US" sz="1850" dirty="0"/>
          </a:p>
        </p:txBody>
      </p:sp>
      <p:sp>
        <p:nvSpPr>
          <p:cNvPr id="5" name="Shape 2"/>
          <p:cNvSpPr/>
          <p:nvPr/>
        </p:nvSpPr>
        <p:spPr>
          <a:xfrm>
            <a:off x="6324124" y="5898833"/>
            <a:ext cx="382905" cy="382905"/>
          </a:xfrm>
          <a:prstGeom prst="roundRect">
            <a:avLst>
              <a:gd name="adj" fmla="val 23878209"/>
            </a:avLst>
          </a:prstGeom>
          <a:noFill/>
          <a:ln w="7620">
            <a:solidFill>
              <a:srgbClr val="FFFFFF"/>
            </a:solidFill>
            <a:prstDash val="solid"/>
          </a:ln>
        </p:spPr>
      </p:sp>
      <p:pic>
        <p:nvPicPr>
          <p:cNvPr id="6" name="Image 1" descr="preencoded.png">    </p:cNvPr>
          <p:cNvPicPr>
            <a:picLocks noChangeAspect="1"/>
          </p:cNvPicPr>
          <p:nvPr/>
        </p:nvPicPr>
        <p:blipFill>
          <a:blip r:embed="rId2"/>
          <a:stretch>
            <a:fillRect/>
          </a:stretch>
        </p:blipFill>
        <p:spPr>
          <a:xfrm>
            <a:off x="6331744" y="5906453"/>
            <a:ext cx="367665" cy="367665"/>
          </a:xfrm>
          <a:prstGeom prst="rect">
            <a:avLst/>
          </a:prstGeom>
        </p:spPr>
      </p:pic>
      <p:sp>
        <p:nvSpPr>
          <p:cNvPr id="7" name="Text 3"/>
          <p:cNvSpPr/>
          <p:nvPr/>
        </p:nvSpPr>
        <p:spPr>
          <a:xfrm>
            <a:off x="6826687" y="5880973"/>
            <a:ext cx="3868460" cy="418862"/>
          </a:xfrm>
          <a:prstGeom prst="rect">
            <a:avLst/>
          </a:prstGeom>
          <a:noFill/>
          <a:ln/>
        </p:spPr>
        <p:txBody>
          <a:bodyPr wrap="none" lIns="0" tIns="0" rIns="0" bIns="0" rtlCol="0" anchor="t"/>
          <a:lstStyle/>
          <a:p>
            <a:pPr algn="l" indent="0" marL="0">
              <a:lnSpc>
                <a:spcPts val="3250"/>
              </a:lnSpc>
              <a:buNone/>
            </a:pPr>
            <a:r>
              <a:rPr lang="en-US" sz="2350" b="1" dirty="0">
                <a:solidFill>
                  <a:srgbClr val="D9E1FF"/>
                </a:solidFill>
                <a:latin typeface="Martel Sans Bold" pitchFamily="34" charset="0"/>
                <a:ea typeface="Martel Sans Bold" pitchFamily="34" charset="-122"/>
                <a:cs typeface="Martel Sans Bold" pitchFamily="34" charset="-120"/>
              </a:rPr>
              <a:t>by Quwamdeen Durojaiye</a:t>
            </a:r>
            <a:endParaRPr lang="en-US" sz="2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767840"/>
            <a:ext cx="5632490"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Kanit" pitchFamily="34" charset="0"/>
                <a:ea typeface="Kanit" pitchFamily="34" charset="-122"/>
                <a:cs typeface="Kanit" pitchFamily="34" charset="-120"/>
              </a:rPr>
              <a:t>Spotify App Overview</a:t>
            </a:r>
            <a:endParaRPr lang="en-US" sz="4400" dirty="0"/>
          </a:p>
        </p:txBody>
      </p:sp>
      <p:sp>
        <p:nvSpPr>
          <p:cNvPr id="3" name="Text 1"/>
          <p:cNvSpPr/>
          <p:nvPr/>
        </p:nvSpPr>
        <p:spPr>
          <a:xfrm>
            <a:off x="837724" y="3070146"/>
            <a:ext cx="2816185" cy="351949"/>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Kanit" pitchFamily="34" charset="0"/>
                <a:ea typeface="Kanit" pitchFamily="34" charset="-122"/>
                <a:cs typeface="Kanit" pitchFamily="34" charset="-120"/>
              </a:rPr>
              <a:t>Purpose</a:t>
            </a:r>
            <a:endParaRPr lang="en-US" sz="2200" dirty="0"/>
          </a:p>
        </p:txBody>
      </p:sp>
      <p:sp>
        <p:nvSpPr>
          <p:cNvPr id="4" name="Text 2"/>
          <p:cNvSpPr/>
          <p:nvPr/>
        </p:nvSpPr>
        <p:spPr>
          <a:xfrm>
            <a:off x="837724" y="3661410"/>
            <a:ext cx="3928586" cy="1532096"/>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Spotify is a digital music, podcast, and video service providing access to millions of songs and content from creators worldwide.</a:t>
            </a:r>
            <a:endParaRPr lang="en-US" sz="1850" dirty="0"/>
          </a:p>
        </p:txBody>
      </p:sp>
      <p:sp>
        <p:nvSpPr>
          <p:cNvPr id="5" name="Text 3"/>
          <p:cNvSpPr/>
          <p:nvPr/>
        </p:nvSpPr>
        <p:spPr>
          <a:xfrm>
            <a:off x="5357813" y="3070146"/>
            <a:ext cx="2816185" cy="351949"/>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Kanit" pitchFamily="34" charset="0"/>
                <a:ea typeface="Kanit" pitchFamily="34" charset="-122"/>
                <a:cs typeface="Kanit" pitchFamily="34" charset="-120"/>
              </a:rPr>
              <a:t>Target Audience</a:t>
            </a:r>
            <a:endParaRPr lang="en-US" sz="2200" dirty="0"/>
          </a:p>
        </p:txBody>
      </p:sp>
      <p:sp>
        <p:nvSpPr>
          <p:cNvPr id="6" name="Text 4"/>
          <p:cNvSpPr/>
          <p:nvPr/>
        </p:nvSpPr>
        <p:spPr>
          <a:xfrm>
            <a:off x="5357813" y="3661410"/>
            <a:ext cx="3928586" cy="1915120"/>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The target audience is broad, encompassing music lovers of all ages, demographics, and tastes, with a focus on younger, tech-savvy users.</a:t>
            </a:r>
            <a:endParaRPr lang="en-US" sz="1850" dirty="0"/>
          </a:p>
        </p:txBody>
      </p:sp>
      <p:sp>
        <p:nvSpPr>
          <p:cNvPr id="7" name="Text 5"/>
          <p:cNvSpPr/>
          <p:nvPr/>
        </p:nvSpPr>
        <p:spPr>
          <a:xfrm>
            <a:off x="9877901" y="3070146"/>
            <a:ext cx="2816185" cy="351949"/>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Kanit" pitchFamily="34" charset="0"/>
                <a:ea typeface="Kanit" pitchFamily="34" charset="-122"/>
                <a:cs typeface="Kanit" pitchFamily="34" charset="-120"/>
              </a:rPr>
              <a:t>Core Features</a:t>
            </a:r>
            <a:endParaRPr lang="en-US" sz="2200" dirty="0"/>
          </a:p>
        </p:txBody>
      </p:sp>
      <p:sp>
        <p:nvSpPr>
          <p:cNvPr id="8" name="Text 6"/>
          <p:cNvSpPr/>
          <p:nvPr/>
        </p:nvSpPr>
        <p:spPr>
          <a:xfrm>
            <a:off x="9877901" y="3661410"/>
            <a:ext cx="3928586" cy="383024"/>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D9E1FF"/>
                </a:solidFill>
                <a:latin typeface="Martel Sans Light" pitchFamily="34" charset="0"/>
                <a:ea typeface="Martel Sans Light" pitchFamily="34" charset="-122"/>
                <a:cs typeface="Martel Sans Light" pitchFamily="34" charset="-120"/>
              </a:rPr>
              <a:t>Music streaming</a:t>
            </a:r>
            <a:endParaRPr lang="en-US" sz="1850" dirty="0"/>
          </a:p>
        </p:txBody>
      </p:sp>
      <p:sp>
        <p:nvSpPr>
          <p:cNvPr id="9" name="Text 7"/>
          <p:cNvSpPr/>
          <p:nvPr/>
        </p:nvSpPr>
        <p:spPr>
          <a:xfrm>
            <a:off x="9877901" y="4128135"/>
            <a:ext cx="3928586" cy="383024"/>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D9E1FF"/>
                </a:solidFill>
                <a:latin typeface="Martel Sans Light" pitchFamily="34" charset="0"/>
                <a:ea typeface="Martel Sans Light" pitchFamily="34" charset="-122"/>
                <a:cs typeface="Martel Sans Light" pitchFamily="34" charset="-120"/>
              </a:rPr>
              <a:t>Podcast streaming</a:t>
            </a:r>
            <a:endParaRPr lang="en-US" sz="1850" dirty="0"/>
          </a:p>
        </p:txBody>
      </p:sp>
      <p:sp>
        <p:nvSpPr>
          <p:cNvPr id="10" name="Text 8"/>
          <p:cNvSpPr/>
          <p:nvPr/>
        </p:nvSpPr>
        <p:spPr>
          <a:xfrm>
            <a:off x="9877901" y="4594860"/>
            <a:ext cx="3928586" cy="383024"/>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D9E1FF"/>
                </a:solidFill>
                <a:latin typeface="Martel Sans Light" pitchFamily="34" charset="0"/>
                <a:ea typeface="Martel Sans Light" pitchFamily="34" charset="-122"/>
                <a:cs typeface="Martel Sans Light" pitchFamily="34" charset="-120"/>
              </a:rPr>
              <a:t>Offline downloads</a:t>
            </a:r>
            <a:endParaRPr lang="en-US" sz="1850" dirty="0"/>
          </a:p>
        </p:txBody>
      </p:sp>
      <p:sp>
        <p:nvSpPr>
          <p:cNvPr id="11" name="Text 9"/>
          <p:cNvSpPr/>
          <p:nvPr/>
        </p:nvSpPr>
        <p:spPr>
          <a:xfrm>
            <a:off x="9877901" y="5061585"/>
            <a:ext cx="3928586" cy="383024"/>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D9E1FF"/>
                </a:solidFill>
                <a:latin typeface="Martel Sans Light" pitchFamily="34" charset="0"/>
                <a:ea typeface="Martel Sans Light" pitchFamily="34" charset="-122"/>
                <a:cs typeface="Martel Sans Light" pitchFamily="34" charset="-120"/>
              </a:rPr>
              <a:t>Social sharing</a:t>
            </a:r>
            <a:endParaRPr lang="en-US" sz="1850" dirty="0"/>
          </a:p>
        </p:txBody>
      </p:sp>
      <p:sp>
        <p:nvSpPr>
          <p:cNvPr id="12" name="Text 10"/>
          <p:cNvSpPr/>
          <p:nvPr/>
        </p:nvSpPr>
        <p:spPr>
          <a:xfrm>
            <a:off x="9877901" y="5528310"/>
            <a:ext cx="3928586" cy="383024"/>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D9E1FF"/>
                </a:solidFill>
                <a:latin typeface="Martel Sans Light" pitchFamily="34" charset="0"/>
                <a:ea typeface="Martel Sans Light" pitchFamily="34" charset="-122"/>
                <a:cs typeface="Martel Sans Light" pitchFamily="34" charset="-120"/>
              </a:rPr>
              <a:t>Personalized recommendations</a:t>
            </a:r>
            <a:endParaRPr lang="en-US" sz="1850" dirty="0"/>
          </a:p>
        </p:txBody>
      </p:sp>
      <p:sp>
        <p:nvSpPr>
          <p:cNvPr id="13" name="Text 11"/>
          <p:cNvSpPr/>
          <p:nvPr/>
        </p:nvSpPr>
        <p:spPr>
          <a:xfrm>
            <a:off x="9877901" y="5995035"/>
            <a:ext cx="3928586" cy="383024"/>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D9E1FF"/>
                </a:solidFill>
                <a:latin typeface="Martel Sans Light" pitchFamily="34" charset="0"/>
                <a:ea typeface="Martel Sans Light" pitchFamily="34" charset="-122"/>
                <a:cs typeface="Martel Sans Light" pitchFamily="34" charset="-120"/>
              </a:rPr>
              <a:t>Search and discovery</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919174"/>
          </a:xfrm>
          <a:prstGeom prst="rect">
            <a:avLst/>
          </a:prstGeom>
        </p:spPr>
      </p:pic>
      <p:sp>
        <p:nvSpPr>
          <p:cNvPr id="3" name="Text 0"/>
          <p:cNvSpPr/>
          <p:nvPr/>
        </p:nvSpPr>
        <p:spPr>
          <a:xfrm>
            <a:off x="817364" y="3576638"/>
            <a:ext cx="6789896" cy="686752"/>
          </a:xfrm>
          <a:prstGeom prst="rect">
            <a:avLst/>
          </a:prstGeom>
          <a:noFill/>
          <a:ln/>
        </p:spPr>
        <p:txBody>
          <a:bodyPr wrap="none" lIns="0" tIns="0" rIns="0" bIns="0" rtlCol="0" anchor="t"/>
          <a:lstStyle/>
          <a:p>
            <a:pPr indent="0" marL="0">
              <a:lnSpc>
                <a:spcPts val="5400"/>
              </a:lnSpc>
              <a:buNone/>
            </a:pPr>
            <a:r>
              <a:rPr lang="en-US" sz="4300" dirty="0">
                <a:solidFill>
                  <a:srgbClr val="FFFFFF"/>
                </a:solidFill>
                <a:latin typeface="Kanit" pitchFamily="34" charset="0"/>
                <a:ea typeface="Kanit" pitchFamily="34" charset="-122"/>
                <a:cs typeface="Kanit" pitchFamily="34" charset="-120"/>
              </a:rPr>
              <a:t>UI Evaluation: Visual Design</a:t>
            </a:r>
            <a:endParaRPr lang="en-US" sz="4300" dirty="0"/>
          </a:p>
        </p:txBody>
      </p:sp>
      <p:sp>
        <p:nvSpPr>
          <p:cNvPr id="4" name="Shape 1"/>
          <p:cNvSpPr/>
          <p:nvPr/>
        </p:nvSpPr>
        <p:spPr>
          <a:xfrm>
            <a:off x="817364" y="4876324"/>
            <a:ext cx="525423" cy="525423"/>
          </a:xfrm>
          <a:prstGeom prst="roundRect">
            <a:avLst>
              <a:gd name="adj" fmla="val 6667"/>
            </a:avLst>
          </a:prstGeom>
          <a:solidFill>
            <a:srgbClr val="2F2B54"/>
          </a:solidFill>
          <a:ln/>
        </p:spPr>
      </p:sp>
      <p:sp>
        <p:nvSpPr>
          <p:cNvPr id="5" name="Text 2"/>
          <p:cNvSpPr/>
          <p:nvPr/>
        </p:nvSpPr>
        <p:spPr>
          <a:xfrm>
            <a:off x="915174" y="4932938"/>
            <a:ext cx="329684" cy="412075"/>
          </a:xfrm>
          <a:prstGeom prst="rect">
            <a:avLst/>
          </a:prstGeom>
          <a:noFill/>
          <a:ln/>
        </p:spPr>
        <p:txBody>
          <a:bodyPr wrap="none" lIns="0" tIns="0" rIns="0" bIns="0" rtlCol="0" anchor="t"/>
          <a:lstStyle/>
          <a:p>
            <a:pPr algn="ctr" indent="0" marL="0">
              <a:lnSpc>
                <a:spcPts val="2550"/>
              </a:lnSpc>
              <a:buNone/>
            </a:pPr>
            <a:r>
              <a:rPr lang="en-US" sz="2550" dirty="0">
                <a:solidFill>
                  <a:srgbClr val="D9E1FF"/>
                </a:solidFill>
                <a:latin typeface="Kanit" pitchFamily="34" charset="0"/>
                <a:ea typeface="Kanit" pitchFamily="34" charset="-122"/>
                <a:cs typeface="Kanit" pitchFamily="34" charset="-120"/>
              </a:rPr>
              <a:t>1</a:t>
            </a:r>
            <a:endParaRPr lang="en-US" sz="2550" dirty="0"/>
          </a:p>
        </p:txBody>
      </p:sp>
      <p:sp>
        <p:nvSpPr>
          <p:cNvPr id="6" name="Text 3"/>
          <p:cNvSpPr/>
          <p:nvPr/>
        </p:nvSpPr>
        <p:spPr>
          <a:xfrm>
            <a:off x="1576268" y="4876324"/>
            <a:ext cx="2747486" cy="343495"/>
          </a:xfrm>
          <a:prstGeom prst="rect">
            <a:avLst/>
          </a:prstGeom>
          <a:noFill/>
          <a:ln/>
        </p:spPr>
        <p:txBody>
          <a:bodyPr wrap="none" lIns="0" tIns="0" rIns="0" bIns="0" rtlCol="0" anchor="t"/>
          <a:lstStyle/>
          <a:p>
            <a:pPr indent="0" marL="0">
              <a:lnSpc>
                <a:spcPts val="2700"/>
              </a:lnSpc>
              <a:buNone/>
            </a:pPr>
            <a:r>
              <a:rPr lang="en-US" sz="2150" dirty="0">
                <a:solidFill>
                  <a:srgbClr val="D9E1FF"/>
                </a:solidFill>
                <a:latin typeface="Kanit" pitchFamily="34" charset="0"/>
                <a:ea typeface="Kanit" pitchFamily="34" charset="-122"/>
                <a:cs typeface="Kanit" pitchFamily="34" charset="-120"/>
              </a:rPr>
              <a:t>Strengths</a:t>
            </a:r>
            <a:endParaRPr lang="en-US" sz="2150" dirty="0"/>
          </a:p>
        </p:txBody>
      </p:sp>
      <p:sp>
        <p:nvSpPr>
          <p:cNvPr id="7" name="Text 4"/>
          <p:cNvSpPr/>
          <p:nvPr/>
        </p:nvSpPr>
        <p:spPr>
          <a:xfrm>
            <a:off x="1576268" y="5359837"/>
            <a:ext cx="3417332" cy="1868686"/>
          </a:xfrm>
          <a:prstGeom prst="rect">
            <a:avLst/>
          </a:prstGeom>
          <a:noFill/>
          <a:ln/>
        </p:spPr>
        <p:txBody>
          <a:bodyPr wrap="square" lIns="0" tIns="0" rIns="0" bIns="0" rtlCol="0" anchor="t"/>
          <a:lstStyle/>
          <a:p>
            <a:pPr indent="0" marL="0">
              <a:lnSpc>
                <a:spcPts val="2900"/>
              </a:lnSpc>
              <a:buNone/>
            </a:pPr>
            <a:r>
              <a:rPr lang="en-US" sz="1800" dirty="0">
                <a:solidFill>
                  <a:srgbClr val="D9E1FF"/>
                </a:solidFill>
                <a:latin typeface="Martel Sans Light" pitchFamily="34" charset="0"/>
                <a:ea typeface="Martel Sans Light" pitchFamily="34" charset="-122"/>
                <a:cs typeface="Martel Sans Light" pitchFamily="34" charset="-120"/>
              </a:rPr>
              <a:t>Spotify has a clean and modern design. The dark theme is visually appealing and reduces eye strain, especially in low-light environments.</a:t>
            </a:r>
            <a:endParaRPr lang="en-US" sz="1800" dirty="0"/>
          </a:p>
        </p:txBody>
      </p:sp>
      <p:sp>
        <p:nvSpPr>
          <p:cNvPr id="8" name="Shape 5"/>
          <p:cNvSpPr/>
          <p:nvPr/>
        </p:nvSpPr>
        <p:spPr>
          <a:xfrm>
            <a:off x="5227082" y="4876324"/>
            <a:ext cx="525423" cy="525423"/>
          </a:xfrm>
          <a:prstGeom prst="roundRect">
            <a:avLst>
              <a:gd name="adj" fmla="val 6667"/>
            </a:avLst>
          </a:prstGeom>
          <a:solidFill>
            <a:srgbClr val="2F2B54"/>
          </a:solidFill>
          <a:ln/>
        </p:spPr>
      </p:sp>
      <p:sp>
        <p:nvSpPr>
          <p:cNvPr id="9" name="Text 6"/>
          <p:cNvSpPr/>
          <p:nvPr/>
        </p:nvSpPr>
        <p:spPr>
          <a:xfrm>
            <a:off x="5324892" y="4932938"/>
            <a:ext cx="329684" cy="412075"/>
          </a:xfrm>
          <a:prstGeom prst="rect">
            <a:avLst/>
          </a:prstGeom>
          <a:noFill/>
          <a:ln/>
        </p:spPr>
        <p:txBody>
          <a:bodyPr wrap="none" lIns="0" tIns="0" rIns="0" bIns="0" rtlCol="0" anchor="t"/>
          <a:lstStyle/>
          <a:p>
            <a:pPr algn="ctr" indent="0" marL="0">
              <a:lnSpc>
                <a:spcPts val="2550"/>
              </a:lnSpc>
              <a:buNone/>
            </a:pPr>
            <a:r>
              <a:rPr lang="en-US" sz="2550" dirty="0">
                <a:solidFill>
                  <a:srgbClr val="D9E1FF"/>
                </a:solidFill>
                <a:latin typeface="Kanit" pitchFamily="34" charset="0"/>
                <a:ea typeface="Kanit" pitchFamily="34" charset="-122"/>
                <a:cs typeface="Kanit" pitchFamily="34" charset="-120"/>
              </a:rPr>
              <a:t>2</a:t>
            </a:r>
            <a:endParaRPr lang="en-US" sz="2550" dirty="0"/>
          </a:p>
        </p:txBody>
      </p:sp>
      <p:sp>
        <p:nvSpPr>
          <p:cNvPr id="10" name="Text 7"/>
          <p:cNvSpPr/>
          <p:nvPr/>
        </p:nvSpPr>
        <p:spPr>
          <a:xfrm>
            <a:off x="5985986" y="4876324"/>
            <a:ext cx="2747486" cy="343495"/>
          </a:xfrm>
          <a:prstGeom prst="rect">
            <a:avLst/>
          </a:prstGeom>
          <a:noFill/>
          <a:ln/>
        </p:spPr>
        <p:txBody>
          <a:bodyPr wrap="none" lIns="0" tIns="0" rIns="0" bIns="0" rtlCol="0" anchor="t"/>
          <a:lstStyle/>
          <a:p>
            <a:pPr indent="0" marL="0">
              <a:lnSpc>
                <a:spcPts val="2700"/>
              </a:lnSpc>
              <a:buNone/>
            </a:pPr>
            <a:r>
              <a:rPr lang="en-US" sz="2150" dirty="0">
                <a:solidFill>
                  <a:srgbClr val="D9E1FF"/>
                </a:solidFill>
                <a:latin typeface="Kanit" pitchFamily="34" charset="0"/>
                <a:ea typeface="Kanit" pitchFamily="34" charset="-122"/>
                <a:cs typeface="Kanit" pitchFamily="34" charset="-120"/>
              </a:rPr>
              <a:t>Weaknesses</a:t>
            </a:r>
            <a:endParaRPr lang="en-US" sz="2150" dirty="0"/>
          </a:p>
        </p:txBody>
      </p:sp>
      <p:sp>
        <p:nvSpPr>
          <p:cNvPr id="11" name="Text 8"/>
          <p:cNvSpPr/>
          <p:nvPr/>
        </p:nvSpPr>
        <p:spPr>
          <a:xfrm>
            <a:off x="5985986" y="5359837"/>
            <a:ext cx="3417332" cy="1868686"/>
          </a:xfrm>
          <a:prstGeom prst="rect">
            <a:avLst/>
          </a:prstGeom>
          <a:noFill/>
          <a:ln/>
        </p:spPr>
        <p:txBody>
          <a:bodyPr wrap="square" lIns="0" tIns="0" rIns="0" bIns="0" rtlCol="0" anchor="t"/>
          <a:lstStyle/>
          <a:p>
            <a:pPr indent="0" marL="0">
              <a:lnSpc>
                <a:spcPts val="2900"/>
              </a:lnSpc>
              <a:buNone/>
            </a:pPr>
            <a:r>
              <a:rPr lang="en-US" sz="1800" dirty="0">
                <a:solidFill>
                  <a:srgbClr val="D9E1FF"/>
                </a:solidFill>
                <a:latin typeface="Martel Sans Light" pitchFamily="34" charset="0"/>
                <a:ea typeface="Martel Sans Light" pitchFamily="34" charset="-122"/>
                <a:cs typeface="Martel Sans Light" pitchFamily="34" charset="-120"/>
              </a:rPr>
              <a:t>The visual consistency can sometimes be inconsistent between different sections of the app (e.g. podcast page vs music page).</a:t>
            </a:r>
            <a:endParaRPr lang="en-US" sz="1800" dirty="0"/>
          </a:p>
        </p:txBody>
      </p:sp>
      <p:sp>
        <p:nvSpPr>
          <p:cNvPr id="12" name="Shape 9"/>
          <p:cNvSpPr/>
          <p:nvPr/>
        </p:nvSpPr>
        <p:spPr>
          <a:xfrm>
            <a:off x="9636800" y="4876324"/>
            <a:ext cx="525423" cy="525423"/>
          </a:xfrm>
          <a:prstGeom prst="roundRect">
            <a:avLst>
              <a:gd name="adj" fmla="val 6667"/>
            </a:avLst>
          </a:prstGeom>
          <a:solidFill>
            <a:srgbClr val="2F2B54"/>
          </a:solidFill>
          <a:ln/>
        </p:spPr>
      </p:sp>
      <p:sp>
        <p:nvSpPr>
          <p:cNvPr id="13" name="Text 10"/>
          <p:cNvSpPr/>
          <p:nvPr/>
        </p:nvSpPr>
        <p:spPr>
          <a:xfrm>
            <a:off x="9734610" y="4932938"/>
            <a:ext cx="329684" cy="412075"/>
          </a:xfrm>
          <a:prstGeom prst="rect">
            <a:avLst/>
          </a:prstGeom>
          <a:noFill/>
          <a:ln/>
        </p:spPr>
        <p:txBody>
          <a:bodyPr wrap="none" lIns="0" tIns="0" rIns="0" bIns="0" rtlCol="0" anchor="t"/>
          <a:lstStyle/>
          <a:p>
            <a:pPr algn="ctr" indent="0" marL="0">
              <a:lnSpc>
                <a:spcPts val="2550"/>
              </a:lnSpc>
              <a:buNone/>
            </a:pPr>
            <a:r>
              <a:rPr lang="en-US" sz="2550" dirty="0">
                <a:solidFill>
                  <a:srgbClr val="D9E1FF"/>
                </a:solidFill>
                <a:latin typeface="Kanit" pitchFamily="34" charset="0"/>
                <a:ea typeface="Kanit" pitchFamily="34" charset="-122"/>
                <a:cs typeface="Kanit" pitchFamily="34" charset="-120"/>
              </a:rPr>
              <a:t>3</a:t>
            </a:r>
            <a:endParaRPr lang="en-US" sz="2550" dirty="0"/>
          </a:p>
        </p:txBody>
      </p:sp>
      <p:sp>
        <p:nvSpPr>
          <p:cNvPr id="14" name="Text 11"/>
          <p:cNvSpPr/>
          <p:nvPr/>
        </p:nvSpPr>
        <p:spPr>
          <a:xfrm>
            <a:off x="10395704" y="4876324"/>
            <a:ext cx="3417332" cy="686991"/>
          </a:xfrm>
          <a:prstGeom prst="rect">
            <a:avLst/>
          </a:prstGeom>
          <a:noFill/>
          <a:ln/>
        </p:spPr>
        <p:txBody>
          <a:bodyPr wrap="square" lIns="0" tIns="0" rIns="0" bIns="0" rtlCol="0" anchor="t"/>
          <a:lstStyle/>
          <a:p>
            <a:pPr indent="0" marL="0">
              <a:lnSpc>
                <a:spcPts val="2700"/>
              </a:lnSpc>
              <a:buNone/>
            </a:pPr>
            <a:r>
              <a:rPr lang="en-US" sz="2150" dirty="0">
                <a:solidFill>
                  <a:srgbClr val="D9E1FF"/>
                </a:solidFill>
                <a:latin typeface="Kanit" pitchFamily="34" charset="0"/>
                <a:ea typeface="Kanit" pitchFamily="34" charset="-122"/>
                <a:cs typeface="Kanit" pitchFamily="34" charset="-120"/>
              </a:rPr>
              <a:t>Typography, Colors, and Iconography</a:t>
            </a:r>
            <a:endParaRPr lang="en-US" sz="2150" dirty="0"/>
          </a:p>
        </p:txBody>
      </p:sp>
      <p:sp>
        <p:nvSpPr>
          <p:cNvPr id="15" name="Text 12"/>
          <p:cNvSpPr/>
          <p:nvPr/>
        </p:nvSpPr>
        <p:spPr>
          <a:xfrm>
            <a:off x="10395704" y="5703332"/>
            <a:ext cx="3417332" cy="1868686"/>
          </a:xfrm>
          <a:prstGeom prst="rect">
            <a:avLst/>
          </a:prstGeom>
          <a:noFill/>
          <a:ln/>
        </p:spPr>
        <p:txBody>
          <a:bodyPr wrap="square" lIns="0" tIns="0" rIns="0" bIns="0" rtlCol="0" anchor="t"/>
          <a:lstStyle/>
          <a:p>
            <a:pPr indent="0" marL="0">
              <a:lnSpc>
                <a:spcPts val="2900"/>
              </a:lnSpc>
              <a:buNone/>
            </a:pPr>
            <a:r>
              <a:rPr lang="en-US" sz="1800" dirty="0">
                <a:solidFill>
                  <a:srgbClr val="D9E1FF"/>
                </a:solidFill>
                <a:latin typeface="Martel Sans Light" pitchFamily="34" charset="0"/>
                <a:ea typeface="Martel Sans Light" pitchFamily="34" charset="-122"/>
                <a:cs typeface="Martel Sans Light" pitchFamily="34" charset="-120"/>
              </a:rPr>
              <a:t>The use of circular font is easily readable. The green color is iconic and recognizable. Icons are generally clear and intuitive.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1489829"/>
            <a:ext cx="7468553" cy="1408033"/>
          </a:xfrm>
          <a:prstGeom prst="rect">
            <a:avLst/>
          </a:prstGeom>
          <a:noFill/>
          <a:ln/>
        </p:spPr>
        <p:txBody>
          <a:bodyPr wrap="square" lIns="0" tIns="0" rIns="0" bIns="0" rtlCol="0" anchor="t"/>
          <a:lstStyle/>
          <a:p>
            <a:pPr indent="0" marL="0">
              <a:lnSpc>
                <a:spcPts val="5500"/>
              </a:lnSpc>
              <a:buNone/>
            </a:pPr>
            <a:r>
              <a:rPr lang="en-US" sz="4400" dirty="0">
                <a:solidFill>
                  <a:srgbClr val="FFFFFF"/>
                </a:solidFill>
                <a:latin typeface="Kanit" pitchFamily="34" charset="0"/>
                <a:ea typeface="Kanit" pitchFamily="34" charset="-122"/>
                <a:cs typeface="Kanit" pitchFamily="34" charset="-120"/>
              </a:rPr>
              <a:t>UX Evaluation: Usability &amp; Navigation</a:t>
            </a:r>
            <a:endParaRPr lang="en-US" sz="4400" dirty="0"/>
          </a:p>
        </p:txBody>
      </p:sp>
      <p:pic>
        <p:nvPicPr>
          <p:cNvPr id="4" name="Image 1" descr="preencoded.png">    </p:cNvPr>
          <p:cNvPicPr>
            <a:picLocks noChangeAspect="1"/>
          </p:cNvPicPr>
          <p:nvPr/>
        </p:nvPicPr>
        <p:blipFill>
          <a:blip r:embed="rId2"/>
          <a:stretch>
            <a:fillRect/>
          </a:stretch>
        </p:blipFill>
        <p:spPr>
          <a:xfrm>
            <a:off x="837724" y="3256836"/>
            <a:ext cx="562451" cy="562451"/>
          </a:xfrm>
          <a:prstGeom prst="rect">
            <a:avLst/>
          </a:prstGeom>
        </p:spPr>
      </p:pic>
      <p:sp>
        <p:nvSpPr>
          <p:cNvPr id="5" name="Text 1"/>
          <p:cNvSpPr/>
          <p:nvPr/>
        </p:nvSpPr>
        <p:spPr>
          <a:xfrm>
            <a:off x="837724" y="4058602"/>
            <a:ext cx="2250162" cy="2681168"/>
          </a:xfrm>
          <a:prstGeom prst="rect">
            <a:avLst/>
          </a:prstGeom>
          <a:noFill/>
          <a:ln/>
        </p:spPr>
        <p:txBody>
          <a:bodyPr wrap="square" lIns="0" tIns="0" rIns="0" bIns="0" rtlCol="0" anchor="t"/>
          <a:lstStyle/>
          <a:p>
            <a:pPr algn="l"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The search function is powerful and effective. Creating and managing playlists is relatively straightforward.</a:t>
            </a:r>
            <a:endParaRPr lang="en-US" sz="1850" dirty="0"/>
          </a:p>
        </p:txBody>
      </p:sp>
      <p:pic>
        <p:nvPicPr>
          <p:cNvPr id="6" name="Image 2" descr="preencoded.png">    </p:cNvPr>
          <p:cNvPicPr>
            <a:picLocks noChangeAspect="1"/>
          </p:cNvPicPr>
          <p:nvPr/>
        </p:nvPicPr>
        <p:blipFill>
          <a:blip r:embed="rId3"/>
          <a:stretch>
            <a:fillRect/>
          </a:stretch>
        </p:blipFill>
        <p:spPr>
          <a:xfrm>
            <a:off x="3446859" y="3256836"/>
            <a:ext cx="562451" cy="562451"/>
          </a:xfrm>
          <a:prstGeom prst="rect">
            <a:avLst/>
          </a:prstGeom>
        </p:spPr>
      </p:pic>
      <p:sp>
        <p:nvSpPr>
          <p:cNvPr id="7" name="Text 2"/>
          <p:cNvSpPr/>
          <p:nvPr/>
        </p:nvSpPr>
        <p:spPr>
          <a:xfrm>
            <a:off x="3446859" y="4058602"/>
            <a:ext cx="2250162" cy="2298144"/>
          </a:xfrm>
          <a:prstGeom prst="rect">
            <a:avLst/>
          </a:prstGeom>
          <a:noFill/>
          <a:ln/>
        </p:spPr>
        <p:txBody>
          <a:bodyPr wrap="square" lIns="0" tIns="0" rIns="0" bIns="0" rtlCol="0" anchor="t"/>
          <a:lstStyle/>
          <a:p>
            <a:pPr algn="l"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The bottom navigation bar on mobile is intuitive and provides quick access to core features.</a:t>
            </a:r>
            <a:endParaRPr lang="en-US" sz="1850" dirty="0"/>
          </a:p>
        </p:txBody>
      </p:sp>
      <p:pic>
        <p:nvPicPr>
          <p:cNvPr id="8" name="Image 3" descr="preencoded.png">    </p:cNvPr>
          <p:cNvPicPr>
            <a:picLocks noChangeAspect="1"/>
          </p:cNvPicPr>
          <p:nvPr/>
        </p:nvPicPr>
        <p:blipFill>
          <a:blip r:embed="rId4"/>
          <a:stretch>
            <a:fillRect/>
          </a:stretch>
        </p:blipFill>
        <p:spPr>
          <a:xfrm>
            <a:off x="6055995" y="3256836"/>
            <a:ext cx="562570" cy="562570"/>
          </a:xfrm>
          <a:prstGeom prst="rect">
            <a:avLst/>
          </a:prstGeom>
        </p:spPr>
      </p:pic>
      <p:sp>
        <p:nvSpPr>
          <p:cNvPr id="9" name="Text 3"/>
          <p:cNvSpPr/>
          <p:nvPr/>
        </p:nvSpPr>
        <p:spPr>
          <a:xfrm>
            <a:off x="6055995" y="4058722"/>
            <a:ext cx="2250281" cy="1149072"/>
          </a:xfrm>
          <a:prstGeom prst="rect">
            <a:avLst/>
          </a:prstGeom>
          <a:noFill/>
          <a:ln/>
        </p:spPr>
        <p:txBody>
          <a:bodyPr wrap="square" lIns="0" tIns="0" rIns="0" bIns="0" rtlCol="0" anchor="t"/>
          <a:lstStyle/>
          <a:p>
            <a:pPr algn="l"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Music playback is generally smooth and reliable.</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2219"/>
          </a:xfrm>
          <a:prstGeom prst="rect">
            <a:avLst/>
          </a:prstGeom>
        </p:spPr>
      </p:pic>
      <p:sp>
        <p:nvSpPr>
          <p:cNvPr id="3" name="Text 0"/>
          <p:cNvSpPr/>
          <p:nvPr/>
        </p:nvSpPr>
        <p:spPr>
          <a:xfrm>
            <a:off x="6246733" y="597456"/>
            <a:ext cx="7623334" cy="1278017"/>
          </a:xfrm>
          <a:prstGeom prst="rect">
            <a:avLst/>
          </a:prstGeom>
          <a:noFill/>
          <a:ln/>
        </p:spPr>
        <p:txBody>
          <a:bodyPr wrap="square" lIns="0" tIns="0" rIns="0" bIns="0" rtlCol="0" anchor="t"/>
          <a:lstStyle/>
          <a:p>
            <a:pPr indent="0" marL="0">
              <a:lnSpc>
                <a:spcPts val="5000"/>
              </a:lnSpc>
              <a:buNone/>
            </a:pPr>
            <a:r>
              <a:rPr lang="en-US" sz="4000" dirty="0">
                <a:solidFill>
                  <a:srgbClr val="FFFFFF"/>
                </a:solidFill>
                <a:latin typeface="Kanit" pitchFamily="34" charset="0"/>
                <a:ea typeface="Kanit" pitchFamily="34" charset="-122"/>
                <a:cs typeface="Kanit" pitchFamily="34" charset="-120"/>
              </a:rPr>
              <a:t>Problem 1: Cluttered "Home" Section</a:t>
            </a:r>
            <a:endParaRPr lang="en-US" sz="4000" dirty="0"/>
          </a:p>
        </p:txBody>
      </p:sp>
      <p:pic>
        <p:nvPicPr>
          <p:cNvPr id="4" name="Image 1" descr="preencoded.png">    </p:cNvPr>
          <p:cNvPicPr>
            <a:picLocks noChangeAspect="1"/>
          </p:cNvPicPr>
          <p:nvPr/>
        </p:nvPicPr>
        <p:blipFill>
          <a:blip r:embed="rId2"/>
          <a:stretch>
            <a:fillRect/>
          </a:stretch>
        </p:blipFill>
        <p:spPr>
          <a:xfrm>
            <a:off x="6246733" y="2201347"/>
            <a:ext cx="1086326" cy="1927027"/>
          </a:xfrm>
          <a:prstGeom prst="rect">
            <a:avLst/>
          </a:prstGeom>
        </p:spPr>
      </p:pic>
      <p:sp>
        <p:nvSpPr>
          <p:cNvPr id="5" name="Text 1"/>
          <p:cNvSpPr/>
          <p:nvPr/>
        </p:nvSpPr>
        <p:spPr>
          <a:xfrm>
            <a:off x="7658933" y="2418517"/>
            <a:ext cx="2556034" cy="319445"/>
          </a:xfrm>
          <a:prstGeom prst="rect">
            <a:avLst/>
          </a:prstGeom>
          <a:noFill/>
          <a:ln/>
        </p:spPr>
        <p:txBody>
          <a:bodyPr wrap="none" lIns="0" tIns="0" rIns="0" bIns="0" rtlCol="0" anchor="t"/>
          <a:lstStyle/>
          <a:p>
            <a:pPr algn="l" indent="0" marL="0">
              <a:lnSpc>
                <a:spcPts val="2500"/>
              </a:lnSpc>
              <a:buNone/>
            </a:pPr>
            <a:r>
              <a:rPr lang="en-US" sz="2000" dirty="0">
                <a:solidFill>
                  <a:srgbClr val="D9E1FF"/>
                </a:solidFill>
                <a:latin typeface="Kanit" pitchFamily="34" charset="0"/>
                <a:ea typeface="Kanit" pitchFamily="34" charset="-122"/>
                <a:cs typeface="Kanit" pitchFamily="34" charset="-120"/>
              </a:rPr>
              <a:t>Explanation</a:t>
            </a:r>
            <a:endParaRPr lang="en-US" sz="2000" dirty="0"/>
          </a:p>
        </p:txBody>
      </p:sp>
      <p:sp>
        <p:nvSpPr>
          <p:cNvPr id="6" name="Text 2"/>
          <p:cNvSpPr/>
          <p:nvPr/>
        </p:nvSpPr>
        <p:spPr>
          <a:xfrm>
            <a:off x="7658933" y="2868216"/>
            <a:ext cx="6211133" cy="1042988"/>
          </a:xfrm>
          <a:prstGeom prst="rect">
            <a:avLst/>
          </a:prstGeom>
          <a:noFill/>
          <a:ln/>
        </p:spPr>
        <p:txBody>
          <a:bodyPr wrap="square" lIns="0" tIns="0" rIns="0" bIns="0" rtlCol="0" anchor="t"/>
          <a:lstStyle/>
          <a:p>
            <a:pPr algn="l" indent="0" marL="0">
              <a:lnSpc>
                <a:spcPts val="2700"/>
              </a:lnSpc>
              <a:buNone/>
            </a:pPr>
            <a:r>
              <a:rPr lang="en-US" sz="1700" dirty="0">
                <a:solidFill>
                  <a:srgbClr val="D9E1FF"/>
                </a:solidFill>
                <a:latin typeface="Martel Sans Light" pitchFamily="34" charset="0"/>
                <a:ea typeface="Martel Sans Light" pitchFamily="34" charset="-122"/>
                <a:cs typeface="Martel Sans Light" pitchFamily="34" charset="-120"/>
              </a:rPr>
              <a:t>The "Home" section displays a large amount of content, including recently played items, recommended playlists, and new releases. This can overwhelm users.</a:t>
            </a:r>
            <a:endParaRPr lang="en-US" sz="1700" dirty="0"/>
          </a:p>
        </p:txBody>
      </p:sp>
      <p:pic>
        <p:nvPicPr>
          <p:cNvPr id="7" name="Image 2" descr="preencoded.png">    </p:cNvPr>
          <p:cNvPicPr>
            <a:picLocks noChangeAspect="1"/>
          </p:cNvPicPr>
          <p:nvPr/>
        </p:nvPicPr>
        <p:blipFill>
          <a:blip r:embed="rId3"/>
          <a:stretch>
            <a:fillRect/>
          </a:stretch>
        </p:blipFill>
        <p:spPr>
          <a:xfrm>
            <a:off x="6246733" y="4128373"/>
            <a:ext cx="1086326" cy="1579364"/>
          </a:xfrm>
          <a:prstGeom prst="rect">
            <a:avLst/>
          </a:prstGeom>
        </p:spPr>
      </p:pic>
      <p:sp>
        <p:nvSpPr>
          <p:cNvPr id="8" name="Text 3"/>
          <p:cNvSpPr/>
          <p:nvPr/>
        </p:nvSpPr>
        <p:spPr>
          <a:xfrm>
            <a:off x="7658933" y="4345543"/>
            <a:ext cx="2556034" cy="319445"/>
          </a:xfrm>
          <a:prstGeom prst="rect">
            <a:avLst/>
          </a:prstGeom>
          <a:noFill/>
          <a:ln/>
        </p:spPr>
        <p:txBody>
          <a:bodyPr wrap="none" lIns="0" tIns="0" rIns="0" bIns="0" rtlCol="0" anchor="t"/>
          <a:lstStyle/>
          <a:p>
            <a:pPr algn="l" indent="0" marL="0">
              <a:lnSpc>
                <a:spcPts val="2500"/>
              </a:lnSpc>
              <a:buNone/>
            </a:pPr>
            <a:r>
              <a:rPr lang="en-US" sz="2000" dirty="0">
                <a:solidFill>
                  <a:srgbClr val="D9E1FF"/>
                </a:solidFill>
                <a:latin typeface="Kanit" pitchFamily="34" charset="0"/>
                <a:ea typeface="Kanit" pitchFamily="34" charset="-122"/>
                <a:cs typeface="Kanit" pitchFamily="34" charset="-120"/>
              </a:rPr>
              <a:t>Impact</a:t>
            </a:r>
            <a:endParaRPr lang="en-US" sz="2000" dirty="0"/>
          </a:p>
        </p:txBody>
      </p:sp>
      <p:sp>
        <p:nvSpPr>
          <p:cNvPr id="9" name="Text 4"/>
          <p:cNvSpPr/>
          <p:nvPr/>
        </p:nvSpPr>
        <p:spPr>
          <a:xfrm>
            <a:off x="7658933" y="4795242"/>
            <a:ext cx="6211133" cy="695325"/>
          </a:xfrm>
          <a:prstGeom prst="rect">
            <a:avLst/>
          </a:prstGeom>
          <a:noFill/>
          <a:ln/>
        </p:spPr>
        <p:txBody>
          <a:bodyPr wrap="square" lIns="0" tIns="0" rIns="0" bIns="0" rtlCol="0" anchor="t"/>
          <a:lstStyle/>
          <a:p>
            <a:pPr algn="l" indent="0" marL="0">
              <a:lnSpc>
                <a:spcPts val="2700"/>
              </a:lnSpc>
              <a:buNone/>
            </a:pPr>
            <a:r>
              <a:rPr lang="en-US" sz="1700" dirty="0">
                <a:solidFill>
                  <a:srgbClr val="D9E1FF"/>
                </a:solidFill>
                <a:latin typeface="Martel Sans Light" pitchFamily="34" charset="0"/>
                <a:ea typeface="Martel Sans Light" pitchFamily="34" charset="-122"/>
                <a:cs typeface="Martel Sans Light" pitchFamily="34" charset="-120"/>
              </a:rPr>
              <a:t>Reduces user engagement and discoverability of new content.</a:t>
            </a:r>
            <a:endParaRPr lang="en-US" sz="1700" dirty="0"/>
          </a:p>
        </p:txBody>
      </p:sp>
      <p:pic>
        <p:nvPicPr>
          <p:cNvPr id="10" name="Image 3" descr="preencoded.png">    </p:cNvPr>
          <p:cNvPicPr>
            <a:picLocks noChangeAspect="1"/>
          </p:cNvPicPr>
          <p:nvPr/>
        </p:nvPicPr>
        <p:blipFill>
          <a:blip r:embed="rId4"/>
          <a:stretch>
            <a:fillRect/>
          </a:stretch>
        </p:blipFill>
        <p:spPr>
          <a:xfrm>
            <a:off x="6246733" y="5707737"/>
            <a:ext cx="1086326" cy="1927027"/>
          </a:xfrm>
          <a:prstGeom prst="rect">
            <a:avLst/>
          </a:prstGeom>
        </p:spPr>
      </p:pic>
      <p:sp>
        <p:nvSpPr>
          <p:cNvPr id="11" name="Text 5"/>
          <p:cNvSpPr/>
          <p:nvPr/>
        </p:nvSpPr>
        <p:spPr>
          <a:xfrm>
            <a:off x="7658933" y="5924907"/>
            <a:ext cx="2556034" cy="319445"/>
          </a:xfrm>
          <a:prstGeom prst="rect">
            <a:avLst/>
          </a:prstGeom>
          <a:noFill/>
          <a:ln/>
        </p:spPr>
        <p:txBody>
          <a:bodyPr wrap="none" lIns="0" tIns="0" rIns="0" bIns="0" rtlCol="0" anchor="t"/>
          <a:lstStyle/>
          <a:p>
            <a:pPr algn="l" indent="0" marL="0">
              <a:lnSpc>
                <a:spcPts val="2500"/>
              </a:lnSpc>
              <a:buNone/>
            </a:pPr>
            <a:r>
              <a:rPr lang="en-US" sz="2000" dirty="0">
                <a:solidFill>
                  <a:srgbClr val="D9E1FF"/>
                </a:solidFill>
                <a:latin typeface="Kanit" pitchFamily="34" charset="0"/>
                <a:ea typeface="Kanit" pitchFamily="34" charset="-122"/>
                <a:cs typeface="Kanit" pitchFamily="34" charset="-120"/>
              </a:rPr>
              <a:t>Solution</a:t>
            </a:r>
            <a:endParaRPr lang="en-US" sz="2000" dirty="0"/>
          </a:p>
        </p:txBody>
      </p:sp>
      <p:sp>
        <p:nvSpPr>
          <p:cNvPr id="12" name="Text 6"/>
          <p:cNvSpPr/>
          <p:nvPr/>
        </p:nvSpPr>
        <p:spPr>
          <a:xfrm>
            <a:off x="7658933" y="6374606"/>
            <a:ext cx="6211133" cy="1042988"/>
          </a:xfrm>
          <a:prstGeom prst="rect">
            <a:avLst/>
          </a:prstGeom>
          <a:noFill/>
          <a:ln/>
        </p:spPr>
        <p:txBody>
          <a:bodyPr wrap="square" lIns="0" tIns="0" rIns="0" bIns="0" rtlCol="0" anchor="t"/>
          <a:lstStyle/>
          <a:p>
            <a:pPr algn="l" indent="0" marL="0">
              <a:lnSpc>
                <a:spcPts val="2700"/>
              </a:lnSpc>
              <a:buNone/>
            </a:pPr>
            <a:r>
              <a:rPr lang="en-US" sz="1700" dirty="0">
                <a:solidFill>
                  <a:srgbClr val="D9E1FF"/>
                </a:solidFill>
                <a:latin typeface="Martel Sans Light" pitchFamily="34" charset="0"/>
                <a:ea typeface="Martel Sans Light" pitchFamily="34" charset="-122"/>
                <a:cs typeface="Martel Sans Light" pitchFamily="34" charset="-120"/>
              </a:rPr>
              <a:t>Implement better filtering and categorization options to declutter the "Home" section and improve content discoverability.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1256348"/>
            <a:ext cx="8712756"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Kanit" pitchFamily="34" charset="0"/>
                <a:ea typeface="Kanit" pitchFamily="34" charset="-122"/>
                <a:cs typeface="Kanit" pitchFamily="34" charset="-120"/>
              </a:rPr>
              <a:t>Problem 2: Inconsistent Navigation</a:t>
            </a:r>
            <a:endParaRPr lang="en-US" sz="4400" dirty="0"/>
          </a:p>
        </p:txBody>
      </p:sp>
      <p:sp>
        <p:nvSpPr>
          <p:cNvPr id="3" name="Text 1"/>
          <p:cNvSpPr/>
          <p:nvPr/>
        </p:nvSpPr>
        <p:spPr>
          <a:xfrm>
            <a:off x="1753195" y="3500795"/>
            <a:ext cx="2816185" cy="351949"/>
          </a:xfrm>
          <a:prstGeom prst="rect">
            <a:avLst/>
          </a:prstGeom>
          <a:noFill/>
          <a:ln/>
        </p:spPr>
        <p:txBody>
          <a:bodyPr wrap="none" lIns="0" tIns="0" rIns="0" bIns="0" rtlCol="0" anchor="t"/>
          <a:lstStyle/>
          <a:p>
            <a:pPr algn="r" indent="0" marL="0">
              <a:lnSpc>
                <a:spcPts val="2750"/>
              </a:lnSpc>
              <a:buNone/>
            </a:pPr>
            <a:r>
              <a:rPr lang="en-US" sz="2200" dirty="0">
                <a:solidFill>
                  <a:srgbClr val="D9E1FF"/>
                </a:solidFill>
                <a:latin typeface="Kanit" pitchFamily="34" charset="0"/>
                <a:ea typeface="Kanit" pitchFamily="34" charset="-122"/>
                <a:cs typeface="Kanit" pitchFamily="34" charset="-120"/>
              </a:rPr>
              <a:t>Explanation</a:t>
            </a:r>
            <a:endParaRPr lang="en-US" sz="2200" dirty="0"/>
          </a:p>
        </p:txBody>
      </p:sp>
      <p:sp>
        <p:nvSpPr>
          <p:cNvPr id="4" name="Text 2"/>
          <p:cNvSpPr/>
          <p:nvPr/>
        </p:nvSpPr>
        <p:spPr>
          <a:xfrm>
            <a:off x="837724" y="3996333"/>
            <a:ext cx="3731657" cy="1915120"/>
          </a:xfrm>
          <a:prstGeom prst="rect">
            <a:avLst/>
          </a:prstGeom>
          <a:noFill/>
          <a:ln/>
        </p:spPr>
        <p:txBody>
          <a:bodyPr wrap="square" lIns="0" tIns="0" rIns="0" bIns="0" rtlCol="0" anchor="t"/>
          <a:lstStyle/>
          <a:p>
            <a:pPr algn="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Navigation within the "Podcast" and "Library" sections is inconsistent. Back buttons may not always return to the previous screen.</a:t>
            </a:r>
            <a:endParaRPr lang="en-US" sz="1850" dirty="0"/>
          </a:p>
        </p:txBody>
      </p:sp>
      <p:pic>
        <p:nvPicPr>
          <p:cNvPr id="5" name="Image 0" descr="preencoded.png">    </p:cNvPr>
          <p:cNvPicPr>
            <a:picLocks noChangeAspect="1"/>
          </p:cNvPicPr>
          <p:nvPr/>
        </p:nvPicPr>
        <p:blipFill>
          <a:blip r:embed="rId1"/>
          <a:stretch>
            <a:fillRect/>
          </a:stretch>
        </p:blipFill>
        <p:spPr>
          <a:xfrm>
            <a:off x="5048131" y="2439114"/>
            <a:ext cx="4534138" cy="4534138"/>
          </a:xfrm>
          <a:prstGeom prst="rect">
            <a:avLst/>
          </a:prstGeom>
        </p:spPr>
      </p:pic>
      <p:sp>
        <p:nvSpPr>
          <p:cNvPr id="6" name="Text 3"/>
          <p:cNvSpPr/>
          <p:nvPr/>
        </p:nvSpPr>
        <p:spPr>
          <a:xfrm>
            <a:off x="5572720" y="4209455"/>
            <a:ext cx="358140" cy="447675"/>
          </a:xfrm>
          <a:prstGeom prst="rect">
            <a:avLst/>
          </a:prstGeom>
          <a:noFill/>
          <a:ln/>
        </p:spPr>
        <p:txBody>
          <a:bodyPr wrap="none" lIns="0" tIns="0" rIns="0" bIns="0" rtlCol="0" anchor="t"/>
          <a:lstStyle/>
          <a:p>
            <a:pPr indent="0" marL="0">
              <a:lnSpc>
                <a:spcPts val="4500"/>
              </a:lnSpc>
              <a:buNone/>
            </a:pPr>
            <a:r>
              <a:rPr lang="en-US" sz="2800" dirty="0">
                <a:solidFill>
                  <a:srgbClr val="D9E1FF"/>
                </a:solidFill>
                <a:latin typeface="Kanit" pitchFamily="34" charset="0"/>
                <a:ea typeface="Kanit" pitchFamily="34" charset="-122"/>
                <a:cs typeface="Kanit" pitchFamily="34" charset="-120"/>
              </a:rPr>
              <a:t>1</a:t>
            </a:r>
            <a:endParaRPr lang="en-US" sz="2800" dirty="0"/>
          </a:p>
        </p:txBody>
      </p:sp>
      <p:sp>
        <p:nvSpPr>
          <p:cNvPr id="7" name="Text 4"/>
          <p:cNvSpPr/>
          <p:nvPr/>
        </p:nvSpPr>
        <p:spPr>
          <a:xfrm>
            <a:off x="9941243" y="2660571"/>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D9E1FF"/>
                </a:solidFill>
                <a:latin typeface="Kanit" pitchFamily="34" charset="0"/>
                <a:ea typeface="Kanit" pitchFamily="34" charset="-122"/>
                <a:cs typeface="Kanit" pitchFamily="34" charset="-120"/>
              </a:rPr>
              <a:t>Impact</a:t>
            </a:r>
            <a:endParaRPr lang="en-US" sz="2200" dirty="0"/>
          </a:p>
        </p:txBody>
      </p:sp>
      <p:sp>
        <p:nvSpPr>
          <p:cNvPr id="8" name="Text 5"/>
          <p:cNvSpPr/>
          <p:nvPr/>
        </p:nvSpPr>
        <p:spPr>
          <a:xfrm>
            <a:off x="9941243" y="3156109"/>
            <a:ext cx="3851434" cy="766048"/>
          </a:xfrm>
          <a:prstGeom prst="rect">
            <a:avLst/>
          </a:prstGeom>
          <a:noFill/>
          <a:ln/>
        </p:spPr>
        <p:txBody>
          <a:bodyPr wrap="square" lIns="0" tIns="0" rIns="0" bIns="0" rtlCol="0" anchor="t"/>
          <a:lstStyle/>
          <a:p>
            <a:pPr algn="l"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Leads to user frustration and confusion.</a:t>
            </a:r>
            <a:endParaRPr lang="en-US" sz="1850" dirty="0"/>
          </a:p>
        </p:txBody>
      </p:sp>
      <p:pic>
        <p:nvPicPr>
          <p:cNvPr id="9" name="Image 1" descr="preencoded.png">    </p:cNvPr>
          <p:cNvPicPr>
            <a:picLocks noChangeAspect="1"/>
          </p:cNvPicPr>
          <p:nvPr/>
        </p:nvPicPr>
        <p:blipFill>
          <a:blip r:embed="rId2"/>
          <a:stretch>
            <a:fillRect/>
          </a:stretch>
        </p:blipFill>
        <p:spPr>
          <a:xfrm>
            <a:off x="5048131" y="2439114"/>
            <a:ext cx="4534138" cy="4534138"/>
          </a:xfrm>
          <a:prstGeom prst="rect">
            <a:avLst/>
          </a:prstGeom>
        </p:spPr>
      </p:pic>
      <p:sp>
        <p:nvSpPr>
          <p:cNvPr id="10" name="Text 6"/>
          <p:cNvSpPr/>
          <p:nvPr/>
        </p:nvSpPr>
        <p:spPr>
          <a:xfrm>
            <a:off x="8153995" y="3264813"/>
            <a:ext cx="358140" cy="447675"/>
          </a:xfrm>
          <a:prstGeom prst="rect">
            <a:avLst/>
          </a:prstGeom>
          <a:noFill/>
          <a:ln/>
        </p:spPr>
        <p:txBody>
          <a:bodyPr wrap="none" lIns="0" tIns="0" rIns="0" bIns="0" rtlCol="0" anchor="t"/>
          <a:lstStyle/>
          <a:p>
            <a:pPr indent="0" marL="0">
              <a:lnSpc>
                <a:spcPts val="4500"/>
              </a:lnSpc>
              <a:buNone/>
            </a:pPr>
            <a:r>
              <a:rPr lang="en-US" sz="2800" dirty="0">
                <a:solidFill>
                  <a:srgbClr val="D9E1FF"/>
                </a:solidFill>
                <a:latin typeface="Kanit" pitchFamily="34" charset="0"/>
                <a:ea typeface="Kanit" pitchFamily="34" charset="-122"/>
                <a:cs typeface="Kanit" pitchFamily="34" charset="-120"/>
              </a:rPr>
              <a:t>2</a:t>
            </a:r>
            <a:endParaRPr lang="en-US" sz="2800" dirty="0"/>
          </a:p>
        </p:txBody>
      </p:sp>
      <p:sp>
        <p:nvSpPr>
          <p:cNvPr id="11" name="Text 7"/>
          <p:cNvSpPr/>
          <p:nvPr/>
        </p:nvSpPr>
        <p:spPr>
          <a:xfrm>
            <a:off x="9941243" y="4724043"/>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D9E1FF"/>
                </a:solidFill>
                <a:latin typeface="Kanit" pitchFamily="34" charset="0"/>
                <a:ea typeface="Kanit" pitchFamily="34" charset="-122"/>
                <a:cs typeface="Kanit" pitchFamily="34" charset="-120"/>
              </a:rPr>
              <a:t>Solution</a:t>
            </a:r>
            <a:endParaRPr lang="en-US" sz="2200" dirty="0"/>
          </a:p>
        </p:txBody>
      </p:sp>
      <p:sp>
        <p:nvSpPr>
          <p:cNvPr id="12" name="Text 8"/>
          <p:cNvSpPr/>
          <p:nvPr/>
        </p:nvSpPr>
        <p:spPr>
          <a:xfrm>
            <a:off x="9941243" y="5219581"/>
            <a:ext cx="3851434" cy="1532096"/>
          </a:xfrm>
          <a:prstGeom prst="rect">
            <a:avLst/>
          </a:prstGeom>
          <a:noFill/>
          <a:ln/>
        </p:spPr>
        <p:txBody>
          <a:bodyPr wrap="square" lIns="0" tIns="0" rIns="0" bIns="0" rtlCol="0" anchor="t"/>
          <a:lstStyle/>
          <a:p>
            <a:pPr algn="l"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Ensure consistent back button behavior and clear information hierarchy within all sections of the app.</a:t>
            </a:r>
            <a:endParaRPr lang="en-US" sz="1850" dirty="0"/>
          </a:p>
        </p:txBody>
      </p:sp>
      <p:pic>
        <p:nvPicPr>
          <p:cNvPr id="13" name="Image 2" descr="preencoded.png">    </p:cNvPr>
          <p:cNvPicPr>
            <a:picLocks noChangeAspect="1"/>
          </p:cNvPicPr>
          <p:nvPr/>
        </p:nvPicPr>
        <p:blipFill>
          <a:blip r:embed="rId3"/>
          <a:stretch>
            <a:fillRect/>
          </a:stretch>
        </p:blipFill>
        <p:spPr>
          <a:xfrm>
            <a:off x="5048131" y="2439114"/>
            <a:ext cx="4534138" cy="4534138"/>
          </a:xfrm>
          <a:prstGeom prst="rect">
            <a:avLst/>
          </a:prstGeom>
        </p:spPr>
      </p:pic>
      <p:sp>
        <p:nvSpPr>
          <p:cNvPr id="14" name="Text 9"/>
          <p:cNvSpPr/>
          <p:nvPr/>
        </p:nvSpPr>
        <p:spPr>
          <a:xfrm>
            <a:off x="7681436" y="5972532"/>
            <a:ext cx="358140" cy="447675"/>
          </a:xfrm>
          <a:prstGeom prst="rect">
            <a:avLst/>
          </a:prstGeom>
          <a:noFill/>
          <a:ln/>
        </p:spPr>
        <p:txBody>
          <a:bodyPr wrap="none" lIns="0" tIns="0" rIns="0" bIns="0" rtlCol="0" anchor="t"/>
          <a:lstStyle/>
          <a:p>
            <a:pPr indent="0" marL="0">
              <a:lnSpc>
                <a:spcPts val="4500"/>
              </a:lnSpc>
              <a:buNone/>
            </a:pPr>
            <a:r>
              <a:rPr lang="en-US" sz="2800" dirty="0">
                <a:solidFill>
                  <a:srgbClr val="D9E1FF"/>
                </a:solidFill>
                <a:latin typeface="Kanit" pitchFamily="34" charset="0"/>
                <a:ea typeface="Kanit" pitchFamily="34" charset="-122"/>
                <a:cs typeface="Kanit" pitchFamily="34" charset="-120"/>
              </a:rPr>
              <a:t>3</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2485787"/>
            <a:ext cx="11476792"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Kanit" pitchFamily="34" charset="0"/>
                <a:ea typeface="Kanit" pitchFamily="34" charset="-122"/>
                <a:cs typeface="Kanit" pitchFamily="34" charset="-120"/>
              </a:rPr>
              <a:t>Problems 3 &amp; 4: Podcast Discovery &amp; Font Size</a:t>
            </a:r>
            <a:endParaRPr lang="en-US" sz="4400" dirty="0"/>
          </a:p>
        </p:txBody>
      </p:sp>
      <p:sp>
        <p:nvSpPr>
          <p:cNvPr id="3" name="Text 1"/>
          <p:cNvSpPr/>
          <p:nvPr/>
        </p:nvSpPr>
        <p:spPr>
          <a:xfrm>
            <a:off x="837724" y="3788093"/>
            <a:ext cx="3734752" cy="351949"/>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Kanit" pitchFamily="34" charset="0"/>
                <a:ea typeface="Kanit" pitchFamily="34" charset="-122"/>
                <a:cs typeface="Kanit" pitchFamily="34" charset="-120"/>
              </a:rPr>
              <a:t>Podcast Discovery Challenges</a:t>
            </a:r>
            <a:endParaRPr lang="en-US" sz="2200" dirty="0"/>
          </a:p>
        </p:txBody>
      </p:sp>
      <p:sp>
        <p:nvSpPr>
          <p:cNvPr id="4" name="Text 2"/>
          <p:cNvSpPr/>
          <p:nvPr/>
        </p:nvSpPr>
        <p:spPr>
          <a:xfrm>
            <a:off x="837724" y="4379357"/>
            <a:ext cx="6185535" cy="1149072"/>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Finding new and relevant podcasts can be difficult due to the lack of effective filtering and categorization options, limiting user engagement.</a:t>
            </a:r>
            <a:endParaRPr lang="en-US" sz="1850" dirty="0"/>
          </a:p>
        </p:txBody>
      </p:sp>
      <p:sp>
        <p:nvSpPr>
          <p:cNvPr id="5" name="Text 3"/>
          <p:cNvSpPr/>
          <p:nvPr/>
        </p:nvSpPr>
        <p:spPr>
          <a:xfrm>
            <a:off x="7614761" y="3788093"/>
            <a:ext cx="3157776" cy="351949"/>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Kanit" pitchFamily="34" charset="0"/>
                <a:ea typeface="Kanit" pitchFamily="34" charset="-122"/>
                <a:cs typeface="Kanit" pitchFamily="34" charset="-120"/>
              </a:rPr>
              <a:t>Small Metadata Font Size</a:t>
            </a:r>
            <a:endParaRPr lang="en-US" sz="2200" dirty="0"/>
          </a:p>
        </p:txBody>
      </p:sp>
      <p:sp>
        <p:nvSpPr>
          <p:cNvPr id="6" name="Text 4"/>
          <p:cNvSpPr/>
          <p:nvPr/>
        </p:nvSpPr>
        <p:spPr>
          <a:xfrm>
            <a:off x="7614761" y="4379357"/>
            <a:ext cx="6185535" cy="1149072"/>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On Mobile devices, the font size for artist names, album titles, and other metadata is often too small, decreasing readability and accessibility.</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1148834"/>
            <a:ext cx="6872407"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Kanit" pitchFamily="34" charset="0"/>
                <a:ea typeface="Kanit" pitchFamily="34" charset="-122"/>
                <a:cs typeface="Kanit" pitchFamily="34" charset="-120"/>
              </a:rPr>
              <a:t>Problem 5: UI Inconsistency</a:t>
            </a:r>
            <a:endParaRPr lang="en-US" sz="4400" dirty="0"/>
          </a:p>
        </p:txBody>
      </p:sp>
      <p:sp>
        <p:nvSpPr>
          <p:cNvPr id="4" name="Shape 1"/>
          <p:cNvSpPr/>
          <p:nvPr/>
        </p:nvSpPr>
        <p:spPr>
          <a:xfrm>
            <a:off x="6324124" y="2211824"/>
            <a:ext cx="3614618" cy="2889290"/>
          </a:xfrm>
          <a:prstGeom prst="roundRect">
            <a:avLst>
              <a:gd name="adj" fmla="val 1243"/>
            </a:avLst>
          </a:prstGeom>
          <a:solidFill>
            <a:srgbClr val="2F2B54"/>
          </a:solidFill>
          <a:ln/>
        </p:spPr>
      </p:sp>
      <p:sp>
        <p:nvSpPr>
          <p:cNvPr id="5" name="Text 2"/>
          <p:cNvSpPr/>
          <p:nvPr/>
        </p:nvSpPr>
        <p:spPr>
          <a:xfrm>
            <a:off x="6563439" y="2451140"/>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Explanation</a:t>
            </a:r>
            <a:endParaRPr lang="en-US" sz="2200" dirty="0"/>
          </a:p>
        </p:txBody>
      </p:sp>
      <p:sp>
        <p:nvSpPr>
          <p:cNvPr id="6" name="Text 3"/>
          <p:cNvSpPr/>
          <p:nvPr/>
        </p:nvSpPr>
        <p:spPr>
          <a:xfrm>
            <a:off x="6563439" y="2946678"/>
            <a:ext cx="3135987" cy="1915120"/>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Some UI elements change between the music and podcast sections, causing a jarring experience for the user.</a:t>
            </a:r>
            <a:endParaRPr lang="en-US" sz="1850" dirty="0"/>
          </a:p>
        </p:txBody>
      </p:sp>
      <p:sp>
        <p:nvSpPr>
          <p:cNvPr id="7" name="Shape 4"/>
          <p:cNvSpPr/>
          <p:nvPr/>
        </p:nvSpPr>
        <p:spPr>
          <a:xfrm>
            <a:off x="10178058" y="2211824"/>
            <a:ext cx="3614618" cy="2889290"/>
          </a:xfrm>
          <a:prstGeom prst="roundRect">
            <a:avLst>
              <a:gd name="adj" fmla="val 1243"/>
            </a:avLst>
          </a:prstGeom>
          <a:solidFill>
            <a:srgbClr val="2F2B54"/>
          </a:solidFill>
          <a:ln/>
        </p:spPr>
      </p:sp>
      <p:sp>
        <p:nvSpPr>
          <p:cNvPr id="8" name="Text 5"/>
          <p:cNvSpPr/>
          <p:nvPr/>
        </p:nvSpPr>
        <p:spPr>
          <a:xfrm>
            <a:off x="10417373" y="2451140"/>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Impact</a:t>
            </a:r>
            <a:endParaRPr lang="en-US" sz="2200" dirty="0"/>
          </a:p>
        </p:txBody>
      </p:sp>
      <p:sp>
        <p:nvSpPr>
          <p:cNvPr id="9" name="Text 6"/>
          <p:cNvSpPr/>
          <p:nvPr/>
        </p:nvSpPr>
        <p:spPr>
          <a:xfrm>
            <a:off x="10417373" y="2946678"/>
            <a:ext cx="3135987" cy="1149072"/>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Breaks immersion and lowers the overall polish of the application.</a:t>
            </a:r>
            <a:endParaRPr lang="en-US" sz="1850" dirty="0"/>
          </a:p>
        </p:txBody>
      </p:sp>
      <p:sp>
        <p:nvSpPr>
          <p:cNvPr id="10" name="Shape 7"/>
          <p:cNvSpPr/>
          <p:nvPr/>
        </p:nvSpPr>
        <p:spPr>
          <a:xfrm>
            <a:off x="6324124" y="5340429"/>
            <a:ext cx="7468553" cy="1740218"/>
          </a:xfrm>
          <a:prstGeom prst="roundRect">
            <a:avLst>
              <a:gd name="adj" fmla="val 2063"/>
            </a:avLst>
          </a:prstGeom>
          <a:solidFill>
            <a:srgbClr val="2F2B54"/>
          </a:solidFill>
          <a:ln/>
        </p:spPr>
      </p:sp>
      <p:sp>
        <p:nvSpPr>
          <p:cNvPr id="11" name="Text 8"/>
          <p:cNvSpPr/>
          <p:nvPr/>
        </p:nvSpPr>
        <p:spPr>
          <a:xfrm>
            <a:off x="6563439" y="5579745"/>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Solution</a:t>
            </a:r>
            <a:endParaRPr lang="en-US" sz="2200" dirty="0"/>
          </a:p>
        </p:txBody>
      </p:sp>
      <p:sp>
        <p:nvSpPr>
          <p:cNvPr id="12" name="Text 9"/>
          <p:cNvSpPr/>
          <p:nvPr/>
        </p:nvSpPr>
        <p:spPr>
          <a:xfrm>
            <a:off x="6563439" y="6075283"/>
            <a:ext cx="6989921"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Maintain consistent UI elements across all sections of the app to provide a seamless and polished user experience.</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2004536"/>
            <a:ext cx="7468553" cy="1408033"/>
          </a:xfrm>
          <a:prstGeom prst="rect">
            <a:avLst/>
          </a:prstGeom>
          <a:noFill/>
          <a:ln/>
        </p:spPr>
        <p:txBody>
          <a:bodyPr wrap="square" lIns="0" tIns="0" rIns="0" bIns="0" rtlCol="0" anchor="t"/>
          <a:lstStyle/>
          <a:p>
            <a:pPr indent="0" marL="0">
              <a:lnSpc>
                <a:spcPts val="5500"/>
              </a:lnSpc>
              <a:buNone/>
            </a:pPr>
            <a:r>
              <a:rPr lang="en-US" sz="4400" dirty="0">
                <a:solidFill>
                  <a:srgbClr val="FFFFFF"/>
                </a:solidFill>
                <a:latin typeface="Kanit" pitchFamily="34" charset="0"/>
                <a:ea typeface="Kanit" pitchFamily="34" charset="-122"/>
                <a:cs typeface="Kanit" pitchFamily="34" charset="-120"/>
              </a:rPr>
              <a:t>Redesign: Cluttered Home Section</a:t>
            </a:r>
            <a:endParaRPr lang="en-US" sz="4400" dirty="0"/>
          </a:p>
        </p:txBody>
      </p:sp>
      <p:sp>
        <p:nvSpPr>
          <p:cNvPr id="4" name="Text 1"/>
          <p:cNvSpPr/>
          <p:nvPr/>
        </p:nvSpPr>
        <p:spPr>
          <a:xfrm>
            <a:off x="837724" y="3771543"/>
            <a:ext cx="7468553" cy="383024"/>
          </a:xfrm>
          <a:prstGeom prst="rect">
            <a:avLst/>
          </a:prstGeom>
          <a:noFill/>
          <a:ln/>
        </p:spPr>
        <p:txBody>
          <a:bodyPr wrap="non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The redesign addresses the cluttered home screen.</a:t>
            </a:r>
            <a:endParaRPr lang="en-US" sz="1850" dirty="0"/>
          </a:p>
        </p:txBody>
      </p:sp>
      <p:sp>
        <p:nvSpPr>
          <p:cNvPr id="5" name="Text 2"/>
          <p:cNvSpPr/>
          <p:nvPr/>
        </p:nvSpPr>
        <p:spPr>
          <a:xfrm>
            <a:off x="837724" y="4423767"/>
            <a:ext cx="7468553"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It introduces a tabbed interface for clear categories. These include "Recently Played", "Recommended", and "New Releases".</a:t>
            </a:r>
            <a:endParaRPr lang="en-US" sz="1850" dirty="0"/>
          </a:p>
        </p:txBody>
      </p:sp>
      <p:sp>
        <p:nvSpPr>
          <p:cNvPr id="6" name="Text 3"/>
          <p:cNvSpPr/>
          <p:nvPr/>
        </p:nvSpPr>
        <p:spPr>
          <a:xfrm>
            <a:off x="837724" y="5459016"/>
            <a:ext cx="7468553"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Customizable filters allow users to personalize their feed. This enhances content discoverability.</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1872972"/>
            <a:ext cx="5632490"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Kanit" pitchFamily="34" charset="0"/>
                <a:ea typeface="Kanit" pitchFamily="34" charset="-122"/>
                <a:cs typeface="Kanit" pitchFamily="34" charset="-120"/>
              </a:rPr>
              <a:t>Conclusion</a:t>
            </a:r>
            <a:endParaRPr lang="en-US" sz="4400" dirty="0"/>
          </a:p>
        </p:txBody>
      </p:sp>
      <p:sp>
        <p:nvSpPr>
          <p:cNvPr id="3" name="Shape 1"/>
          <p:cNvSpPr/>
          <p:nvPr/>
        </p:nvSpPr>
        <p:spPr>
          <a:xfrm>
            <a:off x="837724" y="3324939"/>
            <a:ext cx="538520" cy="538520"/>
          </a:xfrm>
          <a:prstGeom prst="roundRect">
            <a:avLst>
              <a:gd name="adj" fmla="val 6668"/>
            </a:avLst>
          </a:prstGeom>
          <a:solidFill>
            <a:srgbClr val="2F2B54"/>
          </a:solidFill>
          <a:ln/>
        </p:spPr>
      </p:sp>
      <p:sp>
        <p:nvSpPr>
          <p:cNvPr id="4" name="Text 2"/>
          <p:cNvSpPr/>
          <p:nvPr/>
        </p:nvSpPr>
        <p:spPr>
          <a:xfrm>
            <a:off x="937974" y="3382923"/>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D9E1FF"/>
                </a:solidFill>
                <a:latin typeface="Kanit" pitchFamily="34" charset="0"/>
                <a:ea typeface="Kanit" pitchFamily="34" charset="-122"/>
                <a:cs typeface="Kanit" pitchFamily="34" charset="-120"/>
              </a:rPr>
              <a:t>1</a:t>
            </a:r>
            <a:endParaRPr lang="en-US" sz="2650" dirty="0"/>
          </a:p>
        </p:txBody>
      </p:sp>
      <p:sp>
        <p:nvSpPr>
          <p:cNvPr id="5" name="Text 3"/>
          <p:cNvSpPr/>
          <p:nvPr/>
        </p:nvSpPr>
        <p:spPr>
          <a:xfrm>
            <a:off x="1615559" y="3324939"/>
            <a:ext cx="2869287"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Key Findings Summary</a:t>
            </a:r>
            <a:endParaRPr lang="en-US" sz="2200" dirty="0"/>
          </a:p>
        </p:txBody>
      </p:sp>
      <p:sp>
        <p:nvSpPr>
          <p:cNvPr id="6" name="Text 4"/>
          <p:cNvSpPr/>
          <p:nvPr/>
        </p:nvSpPr>
        <p:spPr>
          <a:xfrm>
            <a:off x="1615559" y="3820478"/>
            <a:ext cx="5579983"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Identified critical areas for enhancement in Spotify's UI/UX.</a:t>
            </a:r>
            <a:endParaRPr lang="en-US" sz="1850" dirty="0"/>
          </a:p>
        </p:txBody>
      </p:sp>
      <p:sp>
        <p:nvSpPr>
          <p:cNvPr id="7" name="Shape 5"/>
          <p:cNvSpPr/>
          <p:nvPr/>
        </p:nvSpPr>
        <p:spPr>
          <a:xfrm>
            <a:off x="7434858" y="3324939"/>
            <a:ext cx="538520" cy="538520"/>
          </a:xfrm>
          <a:prstGeom prst="roundRect">
            <a:avLst>
              <a:gd name="adj" fmla="val 6668"/>
            </a:avLst>
          </a:prstGeom>
          <a:solidFill>
            <a:srgbClr val="2F2B54"/>
          </a:solidFill>
          <a:ln/>
        </p:spPr>
      </p:sp>
      <p:sp>
        <p:nvSpPr>
          <p:cNvPr id="8" name="Text 6"/>
          <p:cNvSpPr/>
          <p:nvPr/>
        </p:nvSpPr>
        <p:spPr>
          <a:xfrm>
            <a:off x="7535108" y="3382923"/>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D9E1FF"/>
                </a:solidFill>
                <a:latin typeface="Kanit" pitchFamily="34" charset="0"/>
                <a:ea typeface="Kanit" pitchFamily="34" charset="-122"/>
                <a:cs typeface="Kanit" pitchFamily="34" charset="-120"/>
              </a:rPr>
              <a:t>2</a:t>
            </a:r>
            <a:endParaRPr lang="en-US" sz="2650" dirty="0"/>
          </a:p>
        </p:txBody>
      </p:sp>
      <p:sp>
        <p:nvSpPr>
          <p:cNvPr id="9" name="Text 7"/>
          <p:cNvSpPr/>
          <p:nvPr/>
        </p:nvSpPr>
        <p:spPr>
          <a:xfrm>
            <a:off x="8212693" y="3324939"/>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Benefits of Redesign</a:t>
            </a:r>
            <a:endParaRPr lang="en-US" sz="2200" dirty="0"/>
          </a:p>
        </p:txBody>
      </p:sp>
      <p:sp>
        <p:nvSpPr>
          <p:cNvPr id="10" name="Text 8"/>
          <p:cNvSpPr/>
          <p:nvPr/>
        </p:nvSpPr>
        <p:spPr>
          <a:xfrm>
            <a:off x="8212693" y="3820478"/>
            <a:ext cx="5579983"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The proposal addresses key pain points. It enhances usability.</a:t>
            </a:r>
            <a:endParaRPr lang="en-US" sz="1850" dirty="0"/>
          </a:p>
        </p:txBody>
      </p:sp>
      <p:sp>
        <p:nvSpPr>
          <p:cNvPr id="11" name="Shape 9"/>
          <p:cNvSpPr/>
          <p:nvPr/>
        </p:nvSpPr>
        <p:spPr>
          <a:xfrm>
            <a:off x="837724" y="5095042"/>
            <a:ext cx="538520" cy="538520"/>
          </a:xfrm>
          <a:prstGeom prst="roundRect">
            <a:avLst>
              <a:gd name="adj" fmla="val 6668"/>
            </a:avLst>
          </a:prstGeom>
          <a:solidFill>
            <a:srgbClr val="2F2B54"/>
          </a:solidFill>
          <a:ln/>
        </p:spPr>
      </p:sp>
      <p:sp>
        <p:nvSpPr>
          <p:cNvPr id="12" name="Text 10"/>
          <p:cNvSpPr/>
          <p:nvPr/>
        </p:nvSpPr>
        <p:spPr>
          <a:xfrm>
            <a:off x="937974" y="5153025"/>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D9E1FF"/>
                </a:solidFill>
                <a:latin typeface="Kanit" pitchFamily="34" charset="0"/>
                <a:ea typeface="Kanit" pitchFamily="34" charset="-122"/>
                <a:cs typeface="Kanit" pitchFamily="34" charset="-120"/>
              </a:rPr>
              <a:t>3</a:t>
            </a:r>
            <a:endParaRPr lang="en-US" sz="2650" dirty="0"/>
          </a:p>
        </p:txBody>
      </p:sp>
      <p:sp>
        <p:nvSpPr>
          <p:cNvPr id="13" name="Text 11"/>
          <p:cNvSpPr/>
          <p:nvPr/>
        </p:nvSpPr>
        <p:spPr>
          <a:xfrm>
            <a:off x="1615559" y="5095042"/>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Future Considerations</a:t>
            </a:r>
            <a:endParaRPr lang="en-US" sz="2200" dirty="0"/>
          </a:p>
        </p:txBody>
      </p:sp>
      <p:sp>
        <p:nvSpPr>
          <p:cNvPr id="14" name="Text 12"/>
          <p:cNvSpPr/>
          <p:nvPr/>
        </p:nvSpPr>
        <p:spPr>
          <a:xfrm>
            <a:off x="1615559" y="5590580"/>
            <a:ext cx="5579983"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Continuous user feedback ensures ongoing improvements.</a:t>
            </a:r>
            <a:endParaRPr lang="en-US" sz="1850" dirty="0"/>
          </a:p>
        </p:txBody>
      </p:sp>
      <p:sp>
        <p:nvSpPr>
          <p:cNvPr id="15" name="Shape 13"/>
          <p:cNvSpPr/>
          <p:nvPr/>
        </p:nvSpPr>
        <p:spPr>
          <a:xfrm>
            <a:off x="7434858" y="5095042"/>
            <a:ext cx="538520" cy="538520"/>
          </a:xfrm>
          <a:prstGeom prst="roundRect">
            <a:avLst>
              <a:gd name="adj" fmla="val 6668"/>
            </a:avLst>
          </a:prstGeom>
          <a:solidFill>
            <a:srgbClr val="2F2B54"/>
          </a:solidFill>
          <a:ln/>
        </p:spPr>
      </p:sp>
      <p:sp>
        <p:nvSpPr>
          <p:cNvPr id="16" name="Text 14"/>
          <p:cNvSpPr/>
          <p:nvPr/>
        </p:nvSpPr>
        <p:spPr>
          <a:xfrm>
            <a:off x="7535108" y="5153025"/>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D9E1FF"/>
                </a:solidFill>
                <a:latin typeface="Kanit" pitchFamily="34" charset="0"/>
                <a:ea typeface="Kanit" pitchFamily="34" charset="-122"/>
                <a:cs typeface="Kanit" pitchFamily="34" charset="-120"/>
              </a:rPr>
              <a:t>4</a:t>
            </a:r>
            <a:endParaRPr lang="en-US" sz="2650" dirty="0"/>
          </a:p>
        </p:txBody>
      </p:sp>
      <p:sp>
        <p:nvSpPr>
          <p:cNvPr id="17" name="Text 15"/>
          <p:cNvSpPr/>
          <p:nvPr/>
        </p:nvSpPr>
        <p:spPr>
          <a:xfrm>
            <a:off x="8212693" y="5095042"/>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User-Centered Design</a:t>
            </a:r>
            <a:endParaRPr lang="en-US" sz="2200" dirty="0"/>
          </a:p>
        </p:txBody>
      </p:sp>
      <p:sp>
        <p:nvSpPr>
          <p:cNvPr id="18" name="Text 16"/>
          <p:cNvSpPr/>
          <p:nvPr/>
        </p:nvSpPr>
        <p:spPr>
          <a:xfrm>
            <a:off x="8212693" y="5590580"/>
            <a:ext cx="5579983"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A user-centric approach is vital for app improvements.</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37724" y="1872972"/>
            <a:ext cx="7689533" cy="704017"/>
          </a:xfrm>
          <a:prstGeom prst="rect">
            <a:avLst/>
          </a:prstGeom>
          <a:noFill/>
          <a:ln/>
        </p:spPr>
        <p:txBody>
          <a:bodyPr wrap="none" lIns="0" tIns="0" rIns="0" bIns="0" rtlCol="0" anchor="t"/>
          <a:lstStyle/>
          <a:p>
            <a:pPr indent="0" marL="0">
              <a:lnSpc>
                <a:spcPts val="5500"/>
              </a:lnSpc>
              <a:buNone/>
            </a:pPr>
            <a:r>
              <a:rPr lang="en-US" sz="4400" dirty="0">
                <a:solidFill>
                  <a:srgbClr val="FFFFFF"/>
                </a:solidFill>
                <a:latin typeface="Kanit" pitchFamily="34" charset="0"/>
                <a:ea typeface="Kanit" pitchFamily="34" charset="-122"/>
                <a:cs typeface="Kanit" pitchFamily="34" charset="-120"/>
              </a:rPr>
              <a:t>Slide Deck: Key Considerations</a:t>
            </a:r>
            <a:endParaRPr lang="en-US" sz="4400" dirty="0"/>
          </a:p>
        </p:txBody>
      </p:sp>
      <p:sp>
        <p:nvSpPr>
          <p:cNvPr id="3" name="Shape 1"/>
          <p:cNvSpPr/>
          <p:nvPr/>
        </p:nvSpPr>
        <p:spPr>
          <a:xfrm>
            <a:off x="837724" y="3324939"/>
            <a:ext cx="538520" cy="538520"/>
          </a:xfrm>
          <a:prstGeom prst="roundRect">
            <a:avLst>
              <a:gd name="adj" fmla="val 6668"/>
            </a:avLst>
          </a:prstGeom>
          <a:solidFill>
            <a:srgbClr val="2F2B54"/>
          </a:solidFill>
          <a:ln/>
        </p:spPr>
      </p:sp>
      <p:sp>
        <p:nvSpPr>
          <p:cNvPr id="4" name="Text 2"/>
          <p:cNvSpPr/>
          <p:nvPr/>
        </p:nvSpPr>
        <p:spPr>
          <a:xfrm>
            <a:off x="937974" y="3382923"/>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D9E1FF"/>
                </a:solidFill>
                <a:latin typeface="Kanit" pitchFamily="34" charset="0"/>
                <a:ea typeface="Kanit" pitchFamily="34" charset="-122"/>
                <a:cs typeface="Kanit" pitchFamily="34" charset="-120"/>
              </a:rPr>
              <a:t>1</a:t>
            </a:r>
            <a:endParaRPr lang="en-US" sz="2650" dirty="0"/>
          </a:p>
        </p:txBody>
      </p:sp>
      <p:sp>
        <p:nvSpPr>
          <p:cNvPr id="5" name="Text 3"/>
          <p:cNvSpPr/>
          <p:nvPr/>
        </p:nvSpPr>
        <p:spPr>
          <a:xfrm>
            <a:off x="1615559" y="3324939"/>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Clear Language</a:t>
            </a:r>
            <a:endParaRPr lang="en-US" sz="2200" dirty="0"/>
          </a:p>
        </p:txBody>
      </p:sp>
      <p:sp>
        <p:nvSpPr>
          <p:cNvPr id="6" name="Text 4"/>
          <p:cNvSpPr/>
          <p:nvPr/>
        </p:nvSpPr>
        <p:spPr>
          <a:xfrm>
            <a:off x="1615559" y="3820478"/>
            <a:ext cx="5579983"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Use simple words. Ensure clarity and easy comprehension.</a:t>
            </a:r>
            <a:endParaRPr lang="en-US" sz="1850" dirty="0"/>
          </a:p>
        </p:txBody>
      </p:sp>
      <p:sp>
        <p:nvSpPr>
          <p:cNvPr id="7" name="Shape 5"/>
          <p:cNvSpPr/>
          <p:nvPr/>
        </p:nvSpPr>
        <p:spPr>
          <a:xfrm>
            <a:off x="7434858" y="3324939"/>
            <a:ext cx="538520" cy="538520"/>
          </a:xfrm>
          <a:prstGeom prst="roundRect">
            <a:avLst>
              <a:gd name="adj" fmla="val 6668"/>
            </a:avLst>
          </a:prstGeom>
          <a:solidFill>
            <a:srgbClr val="2F2B54"/>
          </a:solidFill>
          <a:ln/>
        </p:spPr>
      </p:sp>
      <p:sp>
        <p:nvSpPr>
          <p:cNvPr id="8" name="Text 6"/>
          <p:cNvSpPr/>
          <p:nvPr/>
        </p:nvSpPr>
        <p:spPr>
          <a:xfrm>
            <a:off x="7535108" y="3382923"/>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D9E1FF"/>
                </a:solidFill>
                <a:latin typeface="Kanit" pitchFamily="34" charset="0"/>
                <a:ea typeface="Kanit" pitchFamily="34" charset="-122"/>
                <a:cs typeface="Kanit" pitchFamily="34" charset="-120"/>
              </a:rPr>
              <a:t>2</a:t>
            </a:r>
            <a:endParaRPr lang="en-US" sz="2650" dirty="0"/>
          </a:p>
        </p:txBody>
      </p:sp>
      <p:sp>
        <p:nvSpPr>
          <p:cNvPr id="9" name="Text 7"/>
          <p:cNvSpPr/>
          <p:nvPr/>
        </p:nvSpPr>
        <p:spPr>
          <a:xfrm>
            <a:off x="8212693" y="3324939"/>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Visual Support</a:t>
            </a:r>
            <a:endParaRPr lang="en-US" sz="2200" dirty="0"/>
          </a:p>
        </p:txBody>
      </p:sp>
      <p:sp>
        <p:nvSpPr>
          <p:cNvPr id="10" name="Text 8"/>
          <p:cNvSpPr/>
          <p:nvPr/>
        </p:nvSpPr>
        <p:spPr>
          <a:xfrm>
            <a:off x="8212693" y="3820478"/>
            <a:ext cx="5579983" cy="383024"/>
          </a:xfrm>
          <a:prstGeom prst="rect">
            <a:avLst/>
          </a:prstGeom>
          <a:noFill/>
          <a:ln/>
        </p:spPr>
        <p:txBody>
          <a:bodyPr wrap="non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Add mockups. Also use screenshots for analysis.</a:t>
            </a:r>
            <a:endParaRPr lang="en-US" sz="1850" dirty="0"/>
          </a:p>
        </p:txBody>
      </p:sp>
      <p:sp>
        <p:nvSpPr>
          <p:cNvPr id="11" name="Shape 9"/>
          <p:cNvSpPr/>
          <p:nvPr/>
        </p:nvSpPr>
        <p:spPr>
          <a:xfrm>
            <a:off x="837724" y="5095042"/>
            <a:ext cx="538520" cy="538520"/>
          </a:xfrm>
          <a:prstGeom prst="roundRect">
            <a:avLst>
              <a:gd name="adj" fmla="val 6668"/>
            </a:avLst>
          </a:prstGeom>
          <a:solidFill>
            <a:srgbClr val="2F2B54"/>
          </a:solidFill>
          <a:ln/>
        </p:spPr>
      </p:sp>
      <p:sp>
        <p:nvSpPr>
          <p:cNvPr id="12" name="Text 10"/>
          <p:cNvSpPr/>
          <p:nvPr/>
        </p:nvSpPr>
        <p:spPr>
          <a:xfrm>
            <a:off x="937974" y="5153025"/>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D9E1FF"/>
                </a:solidFill>
                <a:latin typeface="Kanit" pitchFamily="34" charset="0"/>
                <a:ea typeface="Kanit" pitchFamily="34" charset="-122"/>
                <a:cs typeface="Kanit" pitchFamily="34" charset="-120"/>
              </a:rPr>
              <a:t>3</a:t>
            </a:r>
            <a:endParaRPr lang="en-US" sz="2650" dirty="0"/>
          </a:p>
        </p:txBody>
      </p:sp>
      <p:sp>
        <p:nvSpPr>
          <p:cNvPr id="13" name="Text 11"/>
          <p:cNvSpPr/>
          <p:nvPr/>
        </p:nvSpPr>
        <p:spPr>
          <a:xfrm>
            <a:off x="1615559" y="5095042"/>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User-Centered Design</a:t>
            </a:r>
            <a:endParaRPr lang="en-US" sz="2200" dirty="0"/>
          </a:p>
        </p:txBody>
      </p:sp>
      <p:sp>
        <p:nvSpPr>
          <p:cNvPr id="14" name="Text 12"/>
          <p:cNvSpPr/>
          <p:nvPr/>
        </p:nvSpPr>
        <p:spPr>
          <a:xfrm>
            <a:off x="1615559" y="5590580"/>
            <a:ext cx="5579983"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Prioritize user needs. Focus on usability principles.</a:t>
            </a:r>
            <a:endParaRPr lang="en-US" sz="1850" dirty="0"/>
          </a:p>
        </p:txBody>
      </p:sp>
      <p:sp>
        <p:nvSpPr>
          <p:cNvPr id="15" name="Shape 13"/>
          <p:cNvSpPr/>
          <p:nvPr/>
        </p:nvSpPr>
        <p:spPr>
          <a:xfrm>
            <a:off x="7434858" y="5095042"/>
            <a:ext cx="538520" cy="538520"/>
          </a:xfrm>
          <a:prstGeom prst="roundRect">
            <a:avLst>
              <a:gd name="adj" fmla="val 6668"/>
            </a:avLst>
          </a:prstGeom>
          <a:solidFill>
            <a:srgbClr val="2F2B54"/>
          </a:solidFill>
          <a:ln/>
        </p:spPr>
      </p:sp>
      <p:sp>
        <p:nvSpPr>
          <p:cNvPr id="16" name="Text 14"/>
          <p:cNvSpPr/>
          <p:nvPr/>
        </p:nvSpPr>
        <p:spPr>
          <a:xfrm>
            <a:off x="7535108" y="5153025"/>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D9E1FF"/>
                </a:solidFill>
                <a:latin typeface="Kanit" pitchFamily="34" charset="0"/>
                <a:ea typeface="Kanit" pitchFamily="34" charset="-122"/>
                <a:cs typeface="Kanit" pitchFamily="34" charset="-120"/>
              </a:rPr>
              <a:t>4</a:t>
            </a:r>
            <a:endParaRPr lang="en-US" sz="2650" dirty="0"/>
          </a:p>
        </p:txBody>
      </p:sp>
      <p:sp>
        <p:nvSpPr>
          <p:cNvPr id="17" name="Text 15"/>
          <p:cNvSpPr/>
          <p:nvPr/>
        </p:nvSpPr>
        <p:spPr>
          <a:xfrm>
            <a:off x="8212693" y="5095042"/>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9E1FF"/>
                </a:solidFill>
                <a:latin typeface="Kanit" pitchFamily="34" charset="0"/>
                <a:ea typeface="Kanit" pitchFamily="34" charset="-122"/>
                <a:cs typeface="Kanit" pitchFamily="34" charset="-120"/>
              </a:rPr>
              <a:t>Clean Design</a:t>
            </a:r>
            <a:endParaRPr lang="en-US" sz="2200" dirty="0"/>
          </a:p>
        </p:txBody>
      </p:sp>
      <p:sp>
        <p:nvSpPr>
          <p:cNvPr id="18" name="Text 16"/>
          <p:cNvSpPr/>
          <p:nvPr/>
        </p:nvSpPr>
        <p:spPr>
          <a:xfrm>
            <a:off x="8212693" y="5590580"/>
            <a:ext cx="5579983" cy="766048"/>
          </a:xfrm>
          <a:prstGeom prst="rect">
            <a:avLst/>
          </a:prstGeom>
          <a:noFill/>
          <a:ln/>
        </p:spPr>
        <p:txBody>
          <a:bodyPr wrap="square" lIns="0" tIns="0" rIns="0" bIns="0" rtlCol="0" anchor="t"/>
          <a:lstStyle/>
          <a:p>
            <a:pPr indent="0" marL="0">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Maintain a simple design. This shows professionalism.</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2025-03-11T14:51:31Z</dcterms:created>
  <dcterms:modified xsi:type="dcterms:W3CDTF">2025-03-11T14:51:31Z</dcterms:modified>
</cp:coreProperties>
</file>